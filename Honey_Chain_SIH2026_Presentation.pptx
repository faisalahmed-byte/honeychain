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3A8A"/>
                </a:solidFill>
                <a:latin typeface="Georgia"/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D97706"/>
                </a:solidFill>
                <a:latin typeface="Arial"/>
              </a:defRPr>
            </a:pPr>
            <a:r>
              <a:t>Honey 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6858000" cy="3474720"/>
          </a:xfrm>
          <a:prstGeom prst="roundRect">
            <a:avLst/>
          </a:prstGeom>
          <a:solidFill>
            <a:srgbClr val="F8F9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/>
            <a:r>
              <a:rPr sz="1300" b="1">
                <a:solidFill>
                  <a:srgbClr val="0F172A"/>
                </a:solidFill>
                <a:latin typeface="Arial"/>
              </a:rPr>
              <a:t>Problem Statement ID – </a:t>
            </a:r>
            <a:r>
              <a:rPr sz="1300" b="0">
                <a:solidFill>
                  <a:srgbClr val="334155"/>
                </a:solidFill>
                <a:latin typeface="Arial"/>
              </a:rPr>
              <a:t>SIH26021
</a:t>
            </a:r>
          </a:p>
          <a:p>
            <a:r>
              <a:rPr sz="1300" b="1">
                <a:solidFill>
                  <a:srgbClr val="0F172A"/>
                </a:solidFill>
                <a:latin typeface="Arial"/>
              </a:rPr>
              <a:t>Problem Statement Title – </a:t>
            </a:r>
            <a:r>
              <a:rPr sz="1300" b="0">
                <a:solidFill>
                  <a:srgbClr val="334155"/>
                </a:solidFill>
                <a:latin typeface="Arial"/>
              </a:rPr>
              <a:t>Honey Chain: A blockchain-based system for honey traceability and smart beekeeping management
</a:t>
            </a:r>
          </a:p>
          <a:p>
            <a:r>
              <a:rPr sz="1300" b="1">
                <a:solidFill>
                  <a:srgbClr val="0F172A"/>
                </a:solidFill>
                <a:latin typeface="Arial"/>
              </a:rPr>
              <a:t>Theme – </a:t>
            </a:r>
            <a:r>
              <a:rPr sz="1300" b="0">
                <a:solidFill>
                  <a:srgbClr val="334155"/>
                </a:solidFill>
                <a:latin typeface="Arial"/>
              </a:rPr>
              <a:t>Agriculture, FoodTech &amp; Rural Development
</a:t>
            </a:r>
          </a:p>
          <a:p>
            <a:r>
              <a:rPr sz="1300" b="1">
                <a:solidFill>
                  <a:srgbClr val="0F172A"/>
                </a:solidFill>
                <a:latin typeface="Arial"/>
              </a:rPr>
              <a:t>PS Category – </a:t>
            </a:r>
            <a:r>
              <a:rPr sz="1300" b="0">
                <a:solidFill>
                  <a:srgbClr val="334155"/>
                </a:solidFill>
                <a:latin typeface="Arial"/>
              </a:rPr>
              <a:t>Software (IoT + Blockchain + AI)
</a:t>
            </a:r>
          </a:p>
          <a:p>
            <a:r>
              <a:rPr sz="1300" b="1">
                <a:solidFill>
                  <a:srgbClr val="0F172A"/>
                </a:solidFill>
                <a:latin typeface="Arial"/>
              </a:rPr>
              <a:t>Team ID – </a:t>
            </a:r>
            <a:r>
              <a:rPr sz="1300" b="0">
                <a:solidFill>
                  <a:srgbClr val="334155"/>
                </a:solidFill>
                <a:latin typeface="Arial"/>
              </a:rPr>
              <a:t>SIH2026-TEAM-894
</a:t>
            </a:r>
          </a:p>
          <a:p>
            <a:r>
              <a:rPr sz="1300" b="1">
                <a:solidFill>
                  <a:srgbClr val="0F172A"/>
                </a:solidFill>
                <a:latin typeface="Arial"/>
              </a:rPr>
              <a:t>Team Name – </a:t>
            </a:r>
            <a:r>
              <a:rPr sz="1300" b="0">
                <a:solidFill>
                  <a:srgbClr val="334155"/>
                </a:solidFill>
                <a:latin typeface="Arial"/>
              </a:rPr>
              <a:t>NovaForge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828800"/>
            <a:ext cx="3474720" cy="42062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365760"/>
          <a:lstStyle/>
          <a:p>
            <a:pPr algn="ctr">
              <a:defRPr sz="1200" b="1">
                <a:solidFill>
                  <a:srgbClr val="D97706"/>
                </a:solidFill>
                <a:latin typeface="Arial"/>
              </a:defRPr>
            </a:pPr>
            <a:r>
              <a:t>CORE INNOVATION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Hardware IoT Edge (Arduino + DHT22) monitors brood nest temperature &amp; humidity.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Rule-Based &amp; Predictive AI Colony Health &amp; Yield Diagnostics.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Cryptographic SHA-256 Immutable Blockchain Ledger.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5 Role-Scoped Portals: Beekeeper, Lab QA, Processor, Logistics, Consumer.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1-Click Consumer QR Honey Passport with Purity Verification.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46304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NovaForge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57400" y="320040"/>
            <a:ext cx="76352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  <a:latin typeface="Georgia"/>
              </a:defRPr>
            </a:pPr>
            <a:r>
              <a:t>PROBLEM STATEMENT &amp; PROPOSED SYSTEM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7432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40AF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sz="1100" b="1">
                <a:solidFill>
                  <a:srgbClr val="EA580C"/>
                </a:solidFill>
                <a:latin typeface="Arial"/>
              </a:defRPr>
            </a:pPr>
            <a:r>
              <a:t>HACKATHON 2026</a:t>
            </a:r>
          </a:p>
          <a:p>
            <a:pPr algn="r">
              <a:defRPr sz="900" b="1">
                <a:solidFill>
                  <a:srgbClr val="64748B"/>
                </a:solidFill>
                <a:latin typeface="Arial"/>
              </a:defRPr>
            </a:pPr>
            <a:r>
              <a:t>SIH26021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@SIH Idea submission- Template  |  Honey Chain  |  Team NovaForge                                                                           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3520440" cy="43891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NATIONAL PROBLEM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73352"/>
            <a:ext cx="3520440" cy="46634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_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28800"/>
            <a:ext cx="594360" cy="594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80160" y="1783080"/>
            <a:ext cx="2606040" cy="1371600"/>
          </a:xfrm>
          <a:prstGeom prst="rect">
            <a:avLst/>
          </a:prstGeom>
          <a:noFill/>
        </p:spPr>
        <p:txBody>
          <a:bodyPr wrap="square" lIns="45720" tIns="0" rIns="4572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C4 Syrup Adulteration: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  <a:latin typeface="Arial"/>
              </a:defRPr>
            </a:pPr>
            <a:r>
              <a:t>Widespread market practice of mixing cheap inverted sugar, rice, and corn syrups. Destroys consumer trust and fails FSSAI NMR purity norms.</a:t>
            </a:r>
          </a:p>
        </p:txBody>
      </p:sp>
      <p:pic>
        <p:nvPicPr>
          <p:cNvPr id="11" name="Picture 10" descr="icon_visi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310128"/>
            <a:ext cx="594360" cy="594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80160" y="3264408"/>
            <a:ext cx="2606040" cy="1371600"/>
          </a:xfrm>
          <a:prstGeom prst="rect">
            <a:avLst/>
          </a:prstGeom>
          <a:noFill/>
        </p:spPr>
        <p:txBody>
          <a:bodyPr wrap="square" lIns="45720" tIns="0" rIns="4572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Zero Supply Chain Visibility: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  <a:latin typeface="Arial"/>
              </a:defRPr>
            </a:pPr>
            <a:r>
              <a:t>Opaque traditional process from hive to consumer. No tamper-proof origin tracking, leaving consumers blind to synthetic adulterants.</a:t>
            </a:r>
          </a:p>
        </p:txBody>
      </p:sp>
      <p:pic>
        <p:nvPicPr>
          <p:cNvPr id="13" name="Picture 12" descr="icon_beekeep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91456"/>
            <a:ext cx="594360" cy="5943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80160" y="4745736"/>
            <a:ext cx="2606040" cy="1371600"/>
          </a:xfrm>
          <a:prstGeom prst="rect">
            <a:avLst/>
          </a:prstGeom>
          <a:noFill/>
        </p:spPr>
        <p:txBody>
          <a:bodyPr wrap="square" lIns="45720" tIns="0" rIns="4572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Beekeeper Price Exploitation: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  <a:latin typeface="Arial"/>
              </a:defRPr>
            </a:pPr>
            <a:r>
              <a:t>Middlemen dictate rock-bottom prices (&lt;₹120/kg) to tribal and marginal beekeepers, capturing huge margins while beekeepers suffer losses.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234440"/>
            <a:ext cx="3749039" cy="438912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PROPOSED SOLUTION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673352"/>
            <a:ext cx="3749039" cy="466344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_i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1828800"/>
            <a:ext cx="594360" cy="594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983480" y="1783080"/>
            <a:ext cx="2834640" cy="1371600"/>
          </a:xfrm>
          <a:prstGeom prst="rect">
            <a:avLst/>
          </a:prstGeom>
          <a:noFill/>
        </p:spPr>
        <p:txBody>
          <a:bodyPr wrap="square" lIns="45720" tIns="0" rIns="4572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Arduino IoT Hive Monitoring: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  <a:latin typeface="Arial"/>
              </a:defRPr>
            </a:pPr>
            <a:r>
              <a:t>Real-time edge tracking of brood temperature (32-35.5°C) &amp; humidity on Pin 7 with local 16x2 LCD + dual-sync Python bridge to Supabase Cloud.</a:t>
            </a:r>
          </a:p>
        </p:txBody>
      </p:sp>
      <p:pic>
        <p:nvPicPr>
          <p:cNvPr id="19" name="Picture 18" descr="icon_blockch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3310128"/>
            <a:ext cx="594360" cy="5943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983480" y="3264408"/>
            <a:ext cx="2834640" cy="1371600"/>
          </a:xfrm>
          <a:prstGeom prst="rect">
            <a:avLst/>
          </a:prstGeom>
          <a:noFill/>
        </p:spPr>
        <p:txBody>
          <a:bodyPr wrap="square" lIns="45720" tIns="0" rIns="4572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SHA-256 Blockchain Ledgering: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  <a:latin typeface="Arial"/>
              </a:defRPr>
            </a:pPr>
            <a:r>
              <a:t>Immutable, transparent cryptographic block chaining for every honey batch linking Harvest -&gt; Lab QA -&gt; Processing with instant tamper alerts.</a:t>
            </a:r>
          </a:p>
        </p:txBody>
      </p:sp>
      <p:pic>
        <p:nvPicPr>
          <p:cNvPr id="21" name="Picture 20" descr="icon_q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0" y="4791456"/>
            <a:ext cx="594360" cy="5943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983480" y="4745736"/>
            <a:ext cx="2834640" cy="1371600"/>
          </a:xfrm>
          <a:prstGeom prst="rect">
            <a:avLst/>
          </a:prstGeom>
          <a:noFill/>
        </p:spPr>
        <p:txBody>
          <a:bodyPr wrap="square" lIns="45720" tIns="0" rIns="4572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Consumer QR Honey Passport: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  <a:latin typeface="Arial"/>
              </a:defRPr>
            </a:pPr>
            <a:r>
              <a:t>End-to-end trace capability via scannable QR labels revealing NMR purity score (99.4%), apiary GPS coordinates, and FSSAI lab certificates.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1234440"/>
            <a:ext cx="3657600" cy="43891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1673352"/>
            <a:ext cx="3657600" cy="46634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arch_diagra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1312" y="1755648"/>
            <a:ext cx="3419856" cy="1554480"/>
          </a:xfrm>
          <a:prstGeom prst="rect">
            <a:avLst/>
          </a:prstGeom>
        </p:spPr>
      </p:pic>
      <p:pic>
        <p:nvPicPr>
          <p:cNvPr id="26" name="Picture 25" descr="beekeeper_mocku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1040" y="3401568"/>
            <a:ext cx="1536192" cy="26060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29600" y="6016752"/>
            <a:ext cx="17190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Beekeeper Dashboard</a:t>
            </a:r>
          </a:p>
        </p:txBody>
      </p:sp>
      <p:pic>
        <p:nvPicPr>
          <p:cNvPr id="28" name="Picture 27" descr="passport_mocku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12680" y="3401568"/>
            <a:ext cx="1536192" cy="26060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921240" y="6016752"/>
            <a:ext cx="17190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QR Verification Passport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46304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NovaForge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57400" y="320040"/>
            <a:ext cx="76352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  <a:latin typeface="Georgia"/>
              </a:defRPr>
            </a:pPr>
            <a:r>
              <a:t>TECHNICAL APPROACH &amp;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7432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40AF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sz="1100" b="1">
                <a:solidFill>
                  <a:srgbClr val="EA580C"/>
                </a:solidFill>
                <a:latin typeface="Arial"/>
              </a:defRPr>
            </a:pPr>
            <a:r>
              <a:t>HACKATHON 2026</a:t>
            </a:r>
          </a:p>
          <a:p>
            <a:pPr algn="r">
              <a:defRPr sz="900" b="1">
                <a:solidFill>
                  <a:srgbClr val="64748B"/>
                </a:solidFill>
                <a:latin typeface="Arial"/>
              </a:defRPr>
            </a:pPr>
            <a:r>
              <a:t>SIH26021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@SIH Idea submission- Template  |  Honey Chain  |  Team NovaForge                                                                           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sz="1300" b="1">
                <a:solidFill>
                  <a:srgbClr val="D97706"/>
                </a:solidFill>
                <a:latin typeface="Arial"/>
              </a:defRPr>
            </a:pPr>
            <a:r>
              <a:t>HARDWARE &amp; IOT EDGE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Microcontroller: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Arduino Uno R3 (ATmega328P) processing sensor reads.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DHT22 Sensor: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Digital Pin 7, 0.1 C resolution, 2s query sampling cycle.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16x2 LCD Display: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Pins 12, 11, 5, 4, 3, 2 for live beekeeper on-site readouts.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Serial Bridge: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Python daemon on COM6, baud 9600 with auto-reconnect logic.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Dual Ingest: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Synchronous write to local SQLite and HTTPS PATCH to Supabase Cloud.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18872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sz="1300" b="1">
                <a:solidFill>
                  <a:srgbClr val="2563EB"/>
                </a:solidFill>
                <a:latin typeface="Arial"/>
              </a:defRPr>
            </a:pPr>
            <a:r>
              <a:t>AI ENGINE (ai-engine.js)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Colony Health Index: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Base 92% scored with penalties for thermal stress (&lt;31 C or &gt;36 C), pest risks, weak queen.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Stress Risk Metric: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Calculated as 100 - Health with amplifications for high pest and extreme temp (&gt;37 C).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Productivity Classifier: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Categorized into HIGH, MODERATE, LOW based on health score and honey reserves.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Harvest Readiness: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Predicts days to harvest (0-28 days) and yield volume (kg) with confidence scoring.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Automated Alerts: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Triggers Critical (Temp &gt;36.5 C) &amp; Warning (Hum &gt;75%) alerts directly to dashboard &amp; header.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18872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sz="1300" b="1">
                <a:solidFill>
                  <a:srgbClr val="059669"/>
                </a:solidFill>
                <a:latin typeface="Arial"/>
              </a:defRPr>
            </a:pPr>
            <a:r>
              <a:t>BLOCKCHAIN &amp; FULL-STACK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SHA-256 Ledger: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Cryptographic block hashing linking Harvest -&gt; Quality -&gt; Processing -&gt; Distribution.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Tamper Detection: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Instant verification detects altered blocks and highlights compromised chain in red.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Frontend Stack: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React 19, TypeScript, Tailwind CSS, Leaflet Maps, Recharts, SVG QR codes.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Backend Stack: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Node.js Express REST API, SQLite (better-sqlite3), Supabase PostgreSQL Cloud.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Zero Gas Fees: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Permissible enterprise-grade cryptographic audit ledger without costly token gas.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46304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NovaForge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57400" y="320040"/>
            <a:ext cx="76352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0F172A"/>
                </a:solidFill>
                <a:latin typeface="Georgia"/>
              </a:defRPr>
            </a:pPr>
            <a:r>
              <a:t>FEASIBILITY AND VIABILITY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7432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40AF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sz="1100" b="1">
                <a:solidFill>
                  <a:srgbClr val="EA580C"/>
                </a:solidFill>
                <a:latin typeface="Arial"/>
              </a:defRPr>
            </a:pPr>
            <a:r>
              <a:t>HACKATHON 2026</a:t>
            </a:r>
          </a:p>
          <a:p>
            <a:pPr algn="r">
              <a:defRPr sz="900" b="1">
                <a:solidFill>
                  <a:srgbClr val="64748B"/>
                </a:solidFill>
                <a:latin typeface="Arial"/>
              </a:defRPr>
            </a:pPr>
            <a:r>
              <a:t>SIH26021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@SIH Idea submission- Template  |  Honey Chain  |  Team NovaForge                                                                           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sz="1300" b="1">
                <a:solidFill>
                  <a:srgbClr val="059669"/>
                </a:solidFill>
                <a:latin typeface="Arial"/>
              </a:defRPr>
            </a:pPr>
            <a:r>
              <a:t>FEASIBILITY ANALYSIS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Can we build, operate and deploy it?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✔ Technical Feasibility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Built entirely on proven, off-the-shelf components (Arduino, DHT22, React, Node.js, Supabase).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✔ Operational Feasibility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Plug-and-play field setup. Clear local LCD status ensures non-tech beekeepers can use it effortlessly.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✔ Network Feasibility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Dual-sync architecture operates offline in rural apiaries via SQLite, syncing when connectivity resumes.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✔ Regulatory Feasibility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Fully compliant with FSSAI Honey Regulations (2020), AGMARK Grade A+, and ISO 22000 standards.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18872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sz="1300" b="1">
                <a:solidFill>
                  <a:srgbClr val="D97706"/>
                </a:solidFill>
                <a:latin typeface="Arial"/>
              </a:defRPr>
            </a:pPr>
            <a:r>
              <a:t>VIABILITY &amp; MARKET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Will it work and create sustainable value?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★ Economic Viability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Eliminates adulterated honey dumping, boosting beekeeper income by 30-40% via direct certification.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★ Market Demand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India exports 74,000+ MT honey annually. Global markets demand 100% NMR-traceable raw honey.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★ Social Impact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Empowers smallholder &amp; tribal beekeepers under KVIC Honey Mission and TRIFED cooperatives.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★ Environmental Viability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Reduces hive thermal stress mortality, protecting pollinator biodiversity and agricultural yields.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18872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sz="1300" b="1">
                <a:solidFill>
                  <a:srgbClr val="2563EB"/>
                </a:solidFill>
                <a:latin typeface="Arial"/>
              </a:defRPr>
            </a:pPr>
            <a:r>
              <a:t>BUSINESS &amp; SCALE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Can it scale and monetize?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▲ Massive Market Size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India apiculture market reaches ₹3,500+ Cr, driven by organic health trends and exports.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▲ B2B Revenue Model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SaaS subscription for honey aggregators, FPOs, quality labs, and export packaging units.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▲ API Monetization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Traceability API licensing for e-commerce platforms (Amazon, BigBasket) to verify honey jars.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▲ Government Integration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Ready to integrate into National Bee Board Madhukranti portal and State Beekeeping missions.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46304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NovaForge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57400" y="320040"/>
            <a:ext cx="76352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0F172A"/>
                </a:solidFill>
                <a:latin typeface="Georgia"/>
              </a:defRPr>
            </a:pPr>
            <a:r>
              <a:t>IMPACT, BENEFITS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7432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40AF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sz="1100" b="1">
                <a:solidFill>
                  <a:srgbClr val="EA580C"/>
                </a:solidFill>
                <a:latin typeface="Arial"/>
              </a:defRPr>
            </a:pPr>
            <a:r>
              <a:t>HACKATHON 2026</a:t>
            </a:r>
          </a:p>
          <a:p>
            <a:pPr algn="r">
              <a:defRPr sz="900" b="1">
                <a:solidFill>
                  <a:srgbClr val="64748B"/>
                </a:solidFill>
                <a:latin typeface="Arial"/>
              </a:defRPr>
            </a:pPr>
            <a:r>
              <a:t>SIH26021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@SIH Idea submission- Template  |  Honey Chain  |  Team NovaForge                                                                           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4864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200" b="1">
                <a:solidFill>
                  <a:srgbClr val="0F172A"/>
                </a:solidFill>
                <a:latin typeface="Arial"/>
              </a:defRPr>
            </a:pPr>
            <a:r>
              <a:t>STAKEHOLDER BENEFITS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Beekeepers (Marginal/Tribal): Early heat/humidity warnings, harvest readiness prediction, 30-40% higher price realization.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FPOs &amp; Cooperatives: Centralized apiary health monitoring, aggregate batch tracking, verified organic origin.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Processors &amp; Exporters: Automated FSSAI compliance, cold-chain temp logs, tamper-free cryptographic export passports.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Consumers: 100% confidence against syrup adulteration via instant smartphone QR scan.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188720"/>
            <a:ext cx="49377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200" b="1">
                <a:solidFill>
                  <a:srgbClr val="059669"/>
                </a:solidFill>
                <a:latin typeface="Arial"/>
              </a:defRPr>
            </a:pPr>
            <a:r>
              <a:t>ESTIMATED IMPACT IN NUMBERS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59669"/>
                </a:solidFill>
                <a:latin typeface="Arial"/>
              </a:rPr>
              <a:t>30 – 40%  </a:t>
            </a:r>
            <a:r>
              <a:rPr sz="950">
                <a:solidFill>
                  <a:srgbClr val="0F172A"/>
                </a:solidFill>
                <a:latin typeface="Arial"/>
              </a:rPr>
              <a:t>Increase in beekeeper net revenue by selling certified Grade A+ batches.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59669"/>
                </a:solidFill>
                <a:latin typeface="Arial"/>
              </a:rPr>
              <a:t>35%  </a:t>
            </a:r>
            <a:r>
              <a:rPr sz="950">
                <a:solidFill>
                  <a:srgbClr val="0F172A"/>
                </a:solidFill>
                <a:latin typeface="Arial"/>
              </a:rPr>
              <a:t>Reduction in bee colony mortality via real-time temperature stress alerts.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59669"/>
                </a:solidFill>
                <a:latin typeface="Arial"/>
              </a:rPr>
              <a:t>100%  </a:t>
            </a:r>
            <a:r>
              <a:rPr sz="950">
                <a:solidFill>
                  <a:srgbClr val="0F172A"/>
                </a:solidFill>
                <a:latin typeface="Arial"/>
              </a:rPr>
              <a:t>Tamper detection against fake/counterfeit sugar syrup honey.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59669"/>
                </a:solidFill>
                <a:latin typeface="Arial"/>
              </a:rPr>
              <a:t>&lt; 3 sec  </a:t>
            </a:r>
            <a:r>
              <a:rPr sz="950">
                <a:solidFill>
                  <a:srgbClr val="0F172A"/>
                </a:solidFill>
                <a:latin typeface="Arial"/>
              </a:rPr>
              <a:t>End-to-end hardware IoT telemetry propagation to cloud dashboard.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97680"/>
            <a:ext cx="10698480" cy="19202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200" b="1">
                <a:solidFill>
                  <a:srgbClr val="D97706"/>
                </a:solidFill>
                <a:latin typeface="Arial"/>
              </a:defRPr>
            </a:pPr>
            <a:r>
              <a:t>FUTURE ROADMAP &amp; SCALABILITY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Arial"/>
              </a:defRPr>
            </a:pPr>
            <a:r>
              <a:t>▲ Solar-Powered LoRaWAN Nodes – Deploying long-range wireless nodes for deep forest &amp; hilly apiary clusters.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Arial"/>
              </a:defRPr>
            </a:pPr>
            <a:r>
              <a:t>▲ Acoustic AI Bio-Sensing – Microphone frequency analysis to predict swarming events and queen-less conditions.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Arial"/>
              </a:defRPr>
            </a:pPr>
            <a:r>
              <a:t>▲ Smart Contract Escrow – Automated payments to beekeepers triggered immediately upon lab quality approval.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Arial"/>
              </a:defRPr>
            </a:pPr>
            <a:r>
              <a:t>▲ National Integration – Seamless API bridge to Government of India Madhukranti portal for nationwide adoption.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46304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NovaForge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57400" y="320040"/>
            <a:ext cx="76352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300" b="1">
                <a:solidFill>
                  <a:srgbClr val="0F172A"/>
                </a:solidFill>
                <a:latin typeface="Georgia"/>
              </a:defRPr>
            </a:pPr>
            <a:r>
              <a:t>RESEARCH AND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7432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40AF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sz="1100" b="1">
                <a:solidFill>
                  <a:srgbClr val="EA580C"/>
                </a:solidFill>
                <a:latin typeface="Arial"/>
              </a:defRPr>
            </a:pPr>
            <a:r>
              <a:t>HACKATHON 2026</a:t>
            </a:r>
          </a:p>
          <a:p>
            <a:pPr algn="r">
              <a:defRPr sz="900" b="1">
                <a:solidFill>
                  <a:srgbClr val="64748B"/>
                </a:solidFill>
                <a:latin typeface="Arial"/>
              </a:defRPr>
            </a:pPr>
            <a:r>
              <a:t>SIH26021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@SIH Idea submission- Template  |  Honey Chain  |  Team NovaForge                                                                           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1. FSSAI – Manual of Methods of Analysis of Foods: Honey &amp; Bee Products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Category: Regulatory &amp; Food Safety Standard</a:t>
            </a:r>
            <a:br/>
            <a:r>
              <a:t>Standards on moisture limits (&lt;20%), C4 sugar detection, sucrose, and NMR testing.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2. ISO 22000:2018 – Food Safety Management Systems Requirements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Category: Quality Control &amp; Traceability Compliance</a:t>
            </a:r>
            <a:br/>
            <a:r>
              <a:t>Framework for hazard analysis, critical control points, and supply chain accountability.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3. IEEE 2413-2019 – Standard for Architectural Framework for IoT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Category: Edge Sensing &amp; Hardware Communication</a:t>
            </a:r>
            <a:br/>
            <a:r>
              <a:t>Architectural guidelines for edge sensor nodes, data ingestion, and cloud telemetry.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60604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4. NIST SP 800-162 – Attribute-Based Access Control &amp; Data Integrity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Category: Security &amp; Access Governance</a:t>
            </a:r>
            <a:br/>
            <a:r>
              <a:t>Role-scoped authentication protocols for Beekeepers, Lab QA, and Logistics operators.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5. OpenStreetMap – Overpass API for Geolocation &amp; Apiary Mapping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Category: GIS &amp; Location Tracking</a:t>
            </a:r>
            <a:br/>
            <a:r>
              <a:t>Precision mapping of apiary boundaries, floral reserves, and transport cold corridors.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02336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6. Solidity &amp; SHA-256 Hashing &amp; Cryptographic Ledger Audit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Category: Blockchain &amp; Smart Contracts</a:t>
            </a:r>
            <a:br/>
            <a:r>
              <a:t>Cryptographic hash verification (FIPS PUB 180-4) ensuring immutable batch logging.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86400"/>
            <a:ext cx="1069848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950" b="1">
                <a:solidFill>
                  <a:srgbClr val="D97706"/>
                </a:solidFill>
                <a:latin typeface="Arial"/>
              </a:defRPr>
            </a:pPr>
            <a:r>
              <a:t>🏛 STANDARDS &amp; REGULATORY COMPLIANCE AUDIT</a:t>
            </a:r>
          </a:p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Honey Chain framework strictly aligns with official FSSAI honey purity norms, ISO 22000 food safety protocols, IEEE 2413 IoT standards, and NBB/KVIC guidelines for GoI Honey Mission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